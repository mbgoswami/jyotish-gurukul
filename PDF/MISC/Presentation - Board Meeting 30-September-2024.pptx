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148" r:id="rId2"/>
    <p:sldId id="1159" r:id="rId3"/>
    <p:sldId id="1160" r:id="rId4"/>
    <p:sldId id="1149" r:id="rId5"/>
    <p:sldId id="100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CC98FB-2A6B-6AF9-7C4F-9455F7CD72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F7892-9238-5F59-8912-4DAD0CAC48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C09A3-F904-41CA-8B04-9CD9EBA1DE5A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A1DF5-8DF5-ABE7-D613-7B68228635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21930-6B5C-A32F-E51F-93A76E296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B74CA-9CC4-4C6D-8E9A-2DE05F216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6082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2E41A-94AA-4E7C-91A7-EC9ADB637BE5}" type="datetimeFigureOut">
              <a:rPr lang="en-IN" smtClean="0"/>
              <a:pPr/>
              <a:t>14-09-2024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E05C-AF5B-4D0E-BF20-C7C831C703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2870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7ADF-C58D-B97C-4486-57BF770D7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3649A-1A48-278B-4B28-3DFBE12A8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97210-CD4D-B5D9-FB25-CC7E3AA8B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31ACB-C49D-48C5-86A9-DC3E2C1F8F8E}" type="datetime1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E1E7-F82F-F63A-9D72-CDCBFB71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2EF0C-93C1-C7B7-44BB-E59FA88D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40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C31F-7E88-989D-9D64-4E4DB47A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30A1-22D9-FFC2-7352-9978FEC2C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108B7-9342-88AF-93E0-90CAD263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D9E68-F3B9-4AC7-A368-466EFBF266E2}" type="datetime1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F9831-26C1-B6A1-FAB4-0A3618BF7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6EA1B-5FA8-28B2-4F2E-9411F0B7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12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88AF-76AE-2DA2-8FB1-4F162D893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7D82E-D309-4736-A684-68859BCF9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B6281-2201-83C4-ABAB-350CBB9D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51EC-DF39-43E8-BC65-DD7F3C32D558}" type="datetime1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6B24F-8C8A-E82D-31A8-D6AB42E8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6791B-AADD-3C59-133A-45872E18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18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C75C-A703-2094-9CAF-6B17A957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DBE9E-806E-EC86-11F3-EA4E70C10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B490B-EE9F-2373-C69F-888B6E97F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306FC-0223-7F30-DB16-4D6AD5E2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9E07F-3E7C-411C-B5DB-6E4BCE5145CD}" type="datetime1">
              <a:rPr lang="en-IN" smtClean="0"/>
              <a:t>14-09-2024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8F7C7-7870-CD88-9322-7AF83D52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54CA7-FFBB-11E1-63EC-24BBCBBB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3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52D1F-72F2-1F2D-6AFE-A9920207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1119E-AC50-176F-E34E-37C9EC40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B33BC-75B7-4D12-FAB3-5388CEE95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F2397-1E3D-6A61-96AB-487929479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20354-02B7-B39B-20EC-4327988DA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74D93B-EC08-E04F-258A-6795A0E6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B0BF-C722-4109-AA10-F24E7083FF8E}" type="datetime1">
              <a:rPr lang="en-IN" smtClean="0"/>
              <a:t>14-09-2024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605E9-C1E5-AFEC-0E11-E8D7BE64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325FB-4D3E-B48B-1B67-4EC60B92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87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FCD2-AF7C-6ACF-9772-AB81AED7B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8DBA8-90BD-0ADF-BB00-F1F38F446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81736-27E6-4BC4-8EB7-748F0E0BC1C9}" type="datetime1">
              <a:rPr lang="en-IN" smtClean="0"/>
              <a:t>14-09-2024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F0477-F03F-7CAB-29D0-AF2EDA87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BD898-880A-9B16-9C5E-97916556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448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FCFF7-4F5C-A00F-BF66-1DC0625F9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AE26-0500-4DC4-B595-D2F868275C9C}" type="datetime1">
              <a:rPr lang="en-IN" smtClean="0"/>
              <a:t>14-09-2024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8BEE9-ED1D-7BEB-CF7C-826BB434C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7FBFB-D5C8-4DB5-0C37-CBB4A7FA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29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639D-3608-DEF3-03F8-BACBA98E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C6C81-9790-AEE6-F888-013F90B99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2B1EA-B72B-897A-E7EE-BF9E24968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27943-EEDA-2236-B9D7-BE1B8D2C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A8618-9761-4A86-80ED-B249C9FF1DB1}" type="datetime1">
              <a:rPr lang="en-IN" smtClean="0"/>
              <a:t>14-09-2024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8F8D3-DAA8-5354-CC73-3E06088B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D710-96E5-07DA-A24D-CB006628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08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828C-3A7F-25CB-5E24-0177E902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0F14D-5EE4-91EF-4B92-DCB914CB4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1B864-B80A-EAC9-D935-9B3C40B6B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CFD67-9327-F031-02CC-7D4F39C8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CDCB-D28C-47F3-BA85-53B32567ADD0}" type="datetime1">
              <a:rPr lang="en-IN" smtClean="0"/>
              <a:t>14-09-2024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222A9-D3CA-A917-3021-8A56EE12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67E01-4851-9091-66F0-98FAFE4C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52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8EF2-9A1D-CDF2-88AE-EAD1E7D07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774F6-6388-33B7-F410-BDBABBFE9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F2942-880E-2FDB-8036-50D135E73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3A49-228F-494B-A43F-2DB1D7599306}" type="datetime1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F2E5F-9497-EB9F-3D35-C2F4A1302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9B43A-7CCF-FB62-1361-FBC1B706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62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9D63A-9B19-1394-1AF5-73CD9628A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46740-C146-B831-3F23-B048EA8C1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47844-C8D7-F0E7-B732-143C8DBD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DE06A-F452-461A-8ECC-9B126AC3FEE8}" type="datetime1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8A9C1-2020-9F0C-A22A-A2B8E449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9BF35-1559-5642-2949-2CB06E61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41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B3FB15-D647-4233-5FA2-FDEA0B29C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D41A3-7FDB-5FDC-CAB0-20823D684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537B7-56D0-1444-E83A-5E174E55A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49996-DECC-4304-A488-3E666107F48F}" type="datetime1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BF940-259B-C757-D39F-2B7AABD4A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D6B6E-CE69-2C97-24F8-FF77E4B39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96234-592D-4360-B81B-61386CF43C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066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448800" y="6456045"/>
            <a:ext cx="2743200" cy="365125"/>
          </a:xfrm>
        </p:spPr>
        <p:txBody>
          <a:bodyPr/>
          <a:lstStyle/>
          <a:p>
            <a:fld id="{0BDFA4D8-02CE-4D6A-A60A-E67FA1D2D699}" type="slidenum">
              <a:rPr lang="en-IN" smtClean="0"/>
              <a:pPr/>
              <a:t>1</a:t>
            </a:fld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84" y="19004"/>
            <a:ext cx="511916" cy="400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089653"/>
              </p:ext>
            </p:extLst>
          </p:nvPr>
        </p:nvGraphicFramePr>
        <p:xfrm>
          <a:off x="277441" y="917935"/>
          <a:ext cx="8726600" cy="5568476"/>
        </p:xfrm>
        <a:graphic>
          <a:graphicData uri="http://schemas.openxmlformats.org/drawingml/2006/table">
            <a:tbl>
              <a:tblPr/>
              <a:tblGrid>
                <a:gridCol w="670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316">
                  <a:extLst>
                    <a:ext uri="{9D8B030D-6E8A-4147-A177-3AD203B41FA5}">
                      <a16:colId xmlns:a16="http://schemas.microsoft.com/office/drawing/2014/main" val="469214919"/>
                    </a:ext>
                  </a:extLst>
                </a:gridCol>
              </a:tblGrid>
              <a:tr h="5102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Sr.</a:t>
                      </a:r>
                      <a:b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</a:b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Expense Head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Revised Budget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Actual Expenses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Difference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Human Resource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198.00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185.99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12.01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Admin Cost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82.00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75.83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6.17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Staff training and capacity building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10.00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3.75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6.25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Project cost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351.50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161.93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189.57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Building Repair &amp; Maintenance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72.50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72.42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0.08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Acquisitions for the Museum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50.00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70.54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(20.54)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Capital Cost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63.50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56.47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7.03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Research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60.00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43.57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16.43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Events &amp; Seminars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28.00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169.23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(141.23)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Publicity Related Cost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8.50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9.79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(1.29)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Workshops &amp; Studio's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25.50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13.52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11.98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12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Gallery Related Cost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3.50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5.13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(1.63)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13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Museum Shop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3.50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-  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3.50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 14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Contingency Fund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48.00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-  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48.00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4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Total</a:t>
                      </a:r>
                    </a:p>
                  </a:txBody>
                  <a:tcPr marL="3681" marR="3681" marT="36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1,004.50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868.17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136.33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" y="-2226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rebuchet MS" panose="020B0603020202020204" pitchFamily="34" charset="0"/>
              </a:rPr>
              <a:t>Budget Vs. Expense </a:t>
            </a:r>
          </a:p>
          <a:p>
            <a:pPr algn="ctr"/>
            <a:r>
              <a:rPr lang="en-IN" sz="2000" b="1" dirty="0">
                <a:latin typeface="Trebuchet MS" panose="020B0603020202020204" pitchFamily="34" charset="0"/>
              </a:rPr>
              <a:t>April-2023 to March-2024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4436" y="640936"/>
            <a:ext cx="14061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i="1" dirty="0">
                <a:latin typeface="Trebuchet MS" panose="020B0603020202020204" pitchFamily="34" charset="0"/>
              </a:rPr>
              <a:t>All figures in Lac</a:t>
            </a:r>
            <a:endParaRPr lang="en-IN" sz="1200" i="1" dirty="0">
              <a:latin typeface="Trebuchet MS" panose="020B06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D6F4F7-41F7-9097-D35B-75C71C841E7B}"/>
              </a:ext>
            </a:extLst>
          </p:cNvPr>
          <p:cNvSpPr/>
          <p:nvPr/>
        </p:nvSpPr>
        <p:spPr>
          <a:xfrm>
            <a:off x="9346126" y="4057693"/>
            <a:ext cx="274320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600" b="1" u="sng" dirty="0">
                <a:latin typeface="Trebuchet MS" panose="020B0603020202020204" pitchFamily="34" charset="0"/>
              </a:rPr>
              <a:t>Non budgeted events during FY 2023-2024</a:t>
            </a:r>
          </a:p>
          <a:p>
            <a:endParaRPr lang="en-IN" sz="1600" b="1" u="sng" dirty="0">
              <a:latin typeface="Trebuchet MS" panose="020B0603020202020204" pitchFamily="34" charset="0"/>
            </a:endParaRPr>
          </a:p>
          <a:p>
            <a:r>
              <a:rPr lang="en-IN" sz="1600" u="sng" dirty="0">
                <a:latin typeface="Trebuchet MS" panose="020B0603020202020204" pitchFamily="34" charset="0"/>
              </a:rPr>
              <a:t>Actual Cost</a:t>
            </a:r>
          </a:p>
          <a:p>
            <a:r>
              <a:rPr lang="en-IN" sz="1600" dirty="0">
                <a:latin typeface="Trebuchet MS" panose="020B0603020202020204" pitchFamily="34" charset="0"/>
              </a:rPr>
              <a:t>1. Drama – 20.70</a:t>
            </a:r>
          </a:p>
          <a:p>
            <a:r>
              <a:rPr lang="en-IN" sz="1600" dirty="0">
                <a:latin typeface="Trebuchet MS" panose="020B0603020202020204" pitchFamily="34" charset="0"/>
              </a:rPr>
              <a:t>2. Winter Festival – 119.46</a:t>
            </a:r>
          </a:p>
          <a:p>
            <a:endParaRPr lang="en-IN" sz="1600" dirty="0">
              <a:latin typeface="Trebuchet MS" panose="020B0603020202020204" pitchFamily="34" charset="0"/>
            </a:endParaRPr>
          </a:p>
          <a:p>
            <a:r>
              <a:rPr lang="en-IN" sz="1600" b="1" dirty="0">
                <a:latin typeface="Trebuchet MS" panose="020B0603020202020204" pitchFamily="34" charset="0"/>
              </a:rPr>
              <a:t>Total Cost – 140.16</a:t>
            </a:r>
          </a:p>
          <a:p>
            <a:endParaRPr lang="en-IN" sz="1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443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448800" y="6456045"/>
            <a:ext cx="2743200" cy="365125"/>
          </a:xfrm>
        </p:spPr>
        <p:txBody>
          <a:bodyPr/>
          <a:lstStyle/>
          <a:p>
            <a:fld id="{0BDFA4D8-02CE-4D6A-A60A-E67FA1D2D699}" type="slidenum">
              <a:rPr lang="en-IN" smtClean="0"/>
              <a:pPr/>
              <a:t>2</a:t>
            </a:fld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84" y="19004"/>
            <a:ext cx="511916" cy="400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" y="-2226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rebuchet MS" panose="020B0603020202020204" pitchFamily="34" charset="0"/>
              </a:rPr>
              <a:t>Budget Vs. Expense FY 24-25</a:t>
            </a:r>
          </a:p>
        </p:txBody>
      </p:sp>
      <p:sp>
        <p:nvSpPr>
          <p:cNvPr id="8" name="Rectangle 7"/>
          <p:cNvSpPr/>
          <p:nvPr/>
        </p:nvSpPr>
        <p:spPr>
          <a:xfrm>
            <a:off x="9799911" y="347955"/>
            <a:ext cx="14061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i="1" dirty="0">
                <a:latin typeface="Trebuchet MS" panose="020B0603020202020204" pitchFamily="34" charset="0"/>
              </a:rPr>
              <a:t>All figures in Lac</a:t>
            </a:r>
            <a:endParaRPr lang="en-IN" sz="1200" i="1" dirty="0">
              <a:latin typeface="Trebuchet MS" panose="020B0603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AEC085-8A41-BCF9-50F4-6AAD33C66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102663"/>
              </p:ext>
            </p:extLst>
          </p:nvPr>
        </p:nvGraphicFramePr>
        <p:xfrm>
          <a:off x="438539" y="769281"/>
          <a:ext cx="10767526" cy="58599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15300">
                  <a:extLst>
                    <a:ext uri="{9D8B030D-6E8A-4147-A177-3AD203B41FA5}">
                      <a16:colId xmlns:a16="http://schemas.microsoft.com/office/drawing/2014/main" val="4285511265"/>
                    </a:ext>
                  </a:extLst>
                </a:gridCol>
                <a:gridCol w="5450814">
                  <a:extLst>
                    <a:ext uri="{9D8B030D-6E8A-4147-A177-3AD203B41FA5}">
                      <a16:colId xmlns:a16="http://schemas.microsoft.com/office/drawing/2014/main" val="3200167128"/>
                    </a:ext>
                  </a:extLst>
                </a:gridCol>
                <a:gridCol w="1147665">
                  <a:extLst>
                    <a:ext uri="{9D8B030D-6E8A-4147-A177-3AD203B41FA5}">
                      <a16:colId xmlns:a16="http://schemas.microsoft.com/office/drawing/2014/main" val="182042602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642150813"/>
                    </a:ext>
                  </a:extLst>
                </a:gridCol>
                <a:gridCol w="1324947">
                  <a:extLst>
                    <a:ext uri="{9D8B030D-6E8A-4147-A177-3AD203B41FA5}">
                      <a16:colId xmlns:a16="http://schemas.microsoft.com/office/drawing/2014/main" val="707494306"/>
                    </a:ext>
                  </a:extLst>
                </a:gridCol>
              </a:tblGrid>
              <a:tr h="513749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Sr. No.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Expenses Head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Budget</a:t>
                      </a:r>
                    </a:p>
                    <a:p>
                      <a:pPr algn="ctr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FY 24-25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Actual</a:t>
                      </a:r>
                    </a:p>
                    <a:p>
                      <a:pPr algn="ctr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Apr-24 to Aug-24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Difference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0041433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HR COST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261.00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94.77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166.23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47071711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Administrative Expenses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56.50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38.83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 17.67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11418155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Repair &amp; Maintenance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89.50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31.50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 58.00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89510985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PR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14.00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1.61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 12.39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39968389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Trebuchet MS" panose="020B0603020202020204" pitchFamily="34" charset="0"/>
                        </a:rPr>
                        <a:t>Crafts research and Archive cell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15.50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0.49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15.01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71792914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Staff Training &amp; Exposure Tour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10.00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1.23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   8.77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56056604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Archive, Conservation &amp; Acquisition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63.00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14.47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48.53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0914794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Fixed &amp; Moveable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85.00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6.28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78.72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83511016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Trebuchet MS" panose="020B0603020202020204" pitchFamily="34" charset="0"/>
                        </a:rPr>
                        <a:t>Craft and Karigar Capacity Development Activities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15.50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0.00 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15.50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7777029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Research and Documentation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34.00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0.15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33.85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6861500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Café interior - LLDC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35.00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0.00 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35.00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38965323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12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Design Studio Renovation - Bhujodi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25.00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26.07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 (1.07)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68652899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13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Promotional Activities for Crafts &amp; Culture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165.85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8.33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157.52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6085592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14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Craft Studio Expenses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0.00 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0.53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 (0.53)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02176582"/>
                  </a:ext>
                </a:extLst>
              </a:tr>
              <a:tr h="33413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Experts Fees/Consultancy Fees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0.00 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Trebuchet MS" panose="020B0603020202020204" pitchFamily="34" charset="0"/>
                        </a:rPr>
                        <a:t>       0.99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Trebuchet MS" panose="020B0603020202020204" pitchFamily="34" charset="0"/>
                        </a:rPr>
                        <a:t>         (0.99)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82158330"/>
                  </a:ext>
                </a:extLst>
              </a:tr>
              <a:tr h="33413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  869.85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  225.26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b="1" u="none" strike="noStrike" dirty="0">
                          <a:effectLst/>
                          <a:latin typeface="Trebuchet MS" panose="020B0603020202020204" pitchFamily="34" charset="0"/>
                        </a:rPr>
                        <a:t>      644.59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65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05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448800" y="6456045"/>
            <a:ext cx="2743200" cy="365125"/>
          </a:xfrm>
        </p:spPr>
        <p:txBody>
          <a:bodyPr/>
          <a:lstStyle/>
          <a:p>
            <a:fld id="{0BDFA4D8-02CE-4D6A-A60A-E67FA1D2D699}" type="slidenum">
              <a:rPr lang="en-IN" smtClean="0"/>
              <a:pPr/>
              <a:t>3</a:t>
            </a:fld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84" y="19004"/>
            <a:ext cx="511916" cy="400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" y="-2226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rebuchet MS" panose="020B0603020202020204" pitchFamily="34" charset="0"/>
              </a:rPr>
              <a:t>Project </a:t>
            </a:r>
          </a:p>
          <a:p>
            <a:pPr algn="ctr"/>
            <a:r>
              <a:rPr lang="en-IN" sz="2000" b="1" dirty="0">
                <a:latin typeface="Trebuchet MS" panose="020B0603020202020204" pitchFamily="34" charset="0"/>
              </a:rPr>
              <a:t>Budget Vs. Actual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799911" y="637204"/>
            <a:ext cx="14061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i="1" dirty="0">
                <a:latin typeface="Trebuchet MS" panose="020B0603020202020204" pitchFamily="34" charset="0"/>
              </a:rPr>
              <a:t>All figures in Lac</a:t>
            </a:r>
            <a:endParaRPr lang="en-IN" sz="1200" i="1" dirty="0">
              <a:latin typeface="Trebuchet MS" panose="020B0603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AEC085-8A41-BCF9-50F4-6AAD33C66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539811"/>
              </p:ext>
            </p:extLst>
          </p:nvPr>
        </p:nvGraphicFramePr>
        <p:xfrm>
          <a:off x="438539" y="1058530"/>
          <a:ext cx="10767526" cy="53470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15300">
                  <a:extLst>
                    <a:ext uri="{9D8B030D-6E8A-4147-A177-3AD203B41FA5}">
                      <a16:colId xmlns:a16="http://schemas.microsoft.com/office/drawing/2014/main" val="4285511265"/>
                    </a:ext>
                  </a:extLst>
                </a:gridCol>
                <a:gridCol w="4517753">
                  <a:extLst>
                    <a:ext uri="{9D8B030D-6E8A-4147-A177-3AD203B41FA5}">
                      <a16:colId xmlns:a16="http://schemas.microsoft.com/office/drawing/2014/main" val="3200167128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1820426024"/>
                    </a:ext>
                  </a:extLst>
                </a:gridCol>
                <a:gridCol w="1903445">
                  <a:extLst>
                    <a:ext uri="{9D8B030D-6E8A-4147-A177-3AD203B41FA5}">
                      <a16:colId xmlns:a16="http://schemas.microsoft.com/office/drawing/2014/main" val="1642150813"/>
                    </a:ext>
                  </a:extLst>
                </a:gridCol>
                <a:gridCol w="1520889">
                  <a:extLst>
                    <a:ext uri="{9D8B030D-6E8A-4147-A177-3AD203B41FA5}">
                      <a16:colId xmlns:a16="http://schemas.microsoft.com/office/drawing/2014/main" val="707494306"/>
                    </a:ext>
                  </a:extLst>
                </a:gridCol>
              </a:tblGrid>
              <a:tr h="557178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u="none" strike="noStrike" dirty="0">
                          <a:effectLst/>
                          <a:latin typeface="Trebuchet MS" panose="020B0603020202020204" pitchFamily="34" charset="0"/>
                        </a:rPr>
                        <a:t>Sr. No.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  <a:latin typeface="Trebuchet MS" panose="020B0603020202020204" pitchFamily="34" charset="0"/>
                        </a:rPr>
                        <a:t>Expenses Head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  <a:latin typeface="Trebuchet MS" panose="020B0603020202020204" pitchFamily="34" charset="0"/>
                        </a:rPr>
                        <a:t>Budget</a:t>
                      </a:r>
                    </a:p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FY 24-25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  <a:latin typeface="Trebuchet MS" panose="020B0603020202020204" pitchFamily="34" charset="0"/>
                        </a:rPr>
                        <a:t>Actual</a:t>
                      </a:r>
                    </a:p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Apr-24 to Aug-24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effectLst/>
                          <a:latin typeface="Trebuchet MS" panose="020B0603020202020204" pitchFamily="34" charset="0"/>
                        </a:rPr>
                        <a:t>Difference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0041433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Fire Room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115.00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5.42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109.58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47071711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Hands on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25.00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25.00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11418155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LLDC Musuem Shop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35.00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0.16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34.84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89510985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Gallery-3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50.00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50.00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39968389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Music Gallery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35.00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35.00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71792914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Archive Area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40.00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40.00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56056604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Visitors Entrance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45.00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45.00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0914794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Trellis Structure Entry to Pavilion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25.00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25.00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83511016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Central Courtyard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275.00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275.00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7777029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Waterbody &amp; Toilet Block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10.00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  10.00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6861500"/>
                  </a:ext>
                </a:extLst>
              </a:tr>
              <a:tr h="3991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LLDC Office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150.00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- 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     150.00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38965323"/>
                  </a:ext>
                </a:extLst>
              </a:tr>
              <a:tr h="39915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Total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805.00 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5.57 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    799.43 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65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599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56" y="59934"/>
            <a:ext cx="480152" cy="427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930044"/>
              </p:ext>
            </p:extLst>
          </p:nvPr>
        </p:nvGraphicFramePr>
        <p:xfrm>
          <a:off x="1439655" y="759337"/>
          <a:ext cx="8702721" cy="440982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49837">
                  <a:extLst>
                    <a:ext uri="{9D8B030D-6E8A-4147-A177-3AD203B41FA5}">
                      <a16:colId xmlns:a16="http://schemas.microsoft.com/office/drawing/2014/main" val="1744970818"/>
                    </a:ext>
                  </a:extLst>
                </a:gridCol>
                <a:gridCol w="6086062">
                  <a:extLst>
                    <a:ext uri="{9D8B030D-6E8A-4147-A177-3AD203B41FA5}">
                      <a16:colId xmlns:a16="http://schemas.microsoft.com/office/drawing/2014/main" val="1953037510"/>
                    </a:ext>
                  </a:extLst>
                </a:gridCol>
                <a:gridCol w="1266822">
                  <a:extLst>
                    <a:ext uri="{9D8B030D-6E8A-4147-A177-3AD203B41FA5}">
                      <a16:colId xmlns:a16="http://schemas.microsoft.com/office/drawing/2014/main" val="1073232901"/>
                    </a:ext>
                  </a:extLst>
                </a:gridCol>
              </a:tblGrid>
              <a:tr h="843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  <a:latin typeface="Trebuchet MS" panose="020B0603020202020204" pitchFamily="34" charset="0"/>
                        </a:rPr>
                        <a:t>No.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  <a:latin typeface="Trebuchet MS" panose="020B0603020202020204" pitchFamily="34" charset="0"/>
                        </a:rPr>
                        <a:t>Description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  <a:latin typeface="Trebuchet MS" panose="020B0603020202020204" pitchFamily="34" charset="0"/>
                        </a:rPr>
                        <a:t>Amount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3274" marR="13274" marT="13274" marB="0" anchor="ctr"/>
                </a:tc>
                <a:extLst>
                  <a:ext uri="{0D108BD9-81ED-4DB2-BD59-A6C34878D82A}">
                    <a16:rowId xmlns:a16="http://schemas.microsoft.com/office/drawing/2014/main" val="2135301761"/>
                  </a:ext>
                </a:extLst>
              </a:tr>
              <a:tr h="5943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Trebuchet MS" panose="020B0603020202020204" pitchFamily="34" charset="0"/>
                        </a:rPr>
                        <a:t> 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  <a:latin typeface="Trebuchet MS" panose="020B0603020202020204" pitchFamily="34" charset="0"/>
                        </a:rPr>
                        <a:t>Opening balance as on 1</a:t>
                      </a:r>
                      <a:r>
                        <a:rPr lang="en-US" sz="1800" u="none" strike="noStrike" baseline="30000" dirty="0">
                          <a:effectLst/>
                          <a:latin typeface="Trebuchet MS" panose="020B0603020202020204" pitchFamily="34" charset="0"/>
                        </a:rPr>
                        <a:t>st</a:t>
                      </a:r>
                      <a:r>
                        <a:rPr lang="en-US" sz="1800" u="none" strike="noStrike" dirty="0">
                          <a:effectLst/>
                          <a:latin typeface="Trebuchet MS" panose="020B0603020202020204" pitchFamily="34" charset="0"/>
                        </a:rPr>
                        <a:t> April 2024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933.00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263461"/>
                  </a:ext>
                </a:extLst>
              </a:tr>
              <a:tr h="5943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B</a:t>
                      </a: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  <a:latin typeface="Trebuchet MS" panose="020B0603020202020204" pitchFamily="34" charset="0"/>
                        </a:rPr>
                        <a:t>Received during the year 2024-2025 (till August 2024)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125.42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900177"/>
                  </a:ext>
                </a:extLst>
              </a:tr>
              <a:tr h="5943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C</a:t>
                      </a: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Other Income</a:t>
                      </a: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19.74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643629"/>
                  </a:ext>
                </a:extLst>
              </a:tr>
              <a:tr h="5943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D = (A+B+C) </a:t>
                      </a: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Total</a:t>
                      </a: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1078.16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463937"/>
                  </a:ext>
                </a:extLst>
              </a:tr>
              <a:tr h="5943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E</a:t>
                      </a: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rebuchet MS" panose="020B0603020202020204" pitchFamily="34" charset="0"/>
                        </a:rPr>
                        <a:t>Less:</a:t>
                      </a:r>
                      <a:r>
                        <a:rPr lang="en-US" sz="1800" u="none" strike="noStrike" dirty="0">
                          <a:effectLst/>
                          <a:latin typeface="Trebuchet MS" panose="020B0603020202020204" pitchFamily="34" charset="0"/>
                        </a:rPr>
                        <a:t> Actual expenses April-2023 to August-2024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230.83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3374409"/>
                  </a:ext>
                </a:extLst>
              </a:tr>
              <a:tr h="5943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Trebuchet MS" panose="020B0603020202020204" pitchFamily="34" charset="0"/>
                        </a:rPr>
                        <a:t>F = D – 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3274" marR="13274" marT="13274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rebuchet MS" panose="020B0603020202020204" pitchFamily="34" charset="0"/>
                        </a:rPr>
                        <a:t>Balance as on 31-August-2024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847.34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17918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877650" y="482338"/>
            <a:ext cx="13580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sz="1200" i="1" dirty="0">
                <a:solidFill>
                  <a:srgbClr val="000000"/>
                </a:solidFill>
                <a:latin typeface="Trebuchet MS" panose="020B0603020202020204" pitchFamily="34" charset="0"/>
              </a:rPr>
              <a:t>All figures in Lac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22850" y="220728"/>
            <a:ext cx="2146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rebuchet MS" panose="020B0603020202020204" pitchFamily="34" charset="0"/>
              </a:rPr>
              <a:t>Fund Status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IN" dirty="0">
                <a:latin typeface="Trebuchet MS" panose="020B0603020202020204" pitchFamily="34" charset="0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239076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0" y="3017520"/>
            <a:ext cx="12192000" cy="11430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31162-74FB-8BDB-179F-656F8B6E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6234-592D-4360-B81B-61386CF43CB0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7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</TotalTime>
  <Words>601</Words>
  <Application>Microsoft Office PowerPoint</Application>
  <PresentationFormat>Widescreen</PresentationFormat>
  <Paragraphs>275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Noto Sans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Makwana</dc:creator>
  <cp:lastModifiedBy>Nikunj Katta</cp:lastModifiedBy>
  <cp:revision>202</cp:revision>
  <cp:lastPrinted>2024-07-25T11:42:07Z</cp:lastPrinted>
  <dcterms:created xsi:type="dcterms:W3CDTF">2024-03-04T12:00:20Z</dcterms:created>
  <dcterms:modified xsi:type="dcterms:W3CDTF">2024-09-14T13:14:11Z</dcterms:modified>
</cp:coreProperties>
</file>